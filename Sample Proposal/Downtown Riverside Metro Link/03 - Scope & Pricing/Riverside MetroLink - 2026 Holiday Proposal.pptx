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977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3246120"/>
            <a:ext cx="825977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AAAAAA"/>
                </a:solidFill>
                <a:latin typeface="Poppins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36576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2026 HOLIDAY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Roboto"/>
              </a:rPr>
              <a:t>Riverside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CCCCCC"/>
                </a:solidFill>
                <a:latin typeface="Roboto"/>
              </a:rPr>
              <a:t>Downtown Metrolink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8A8A8A"/>
                </a:solidFill>
                <a:latin typeface="Roboto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St. Nick's Christmas Lighting &amp; Décor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04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BBBBB"/>
                </a:solidFill>
                <a:latin typeface="Poppins"/>
              </a:rPr>
              <a:t>Proposal Date: April 30, 2026</a:t>
            </a:r>
          </a:p>
        </p:txBody>
      </p:sp>
      <p:pic>
        <p:nvPicPr>
          <p:cNvPr id="15" name="Picture 14" descr="Wreaths - Station Entrance 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0"/>
            <a:ext cx="825703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Our 2026 holiday program for the Downtown Riverside Metrolink Station, at a glance.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MARKETING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106424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106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300">
                <a:solidFill>
                  <a:srgbClr val="444444"/>
                </a:solidFill>
                <a:latin typeface="Poppins"/>
              </a:rPr>
              <a:t>St. Nick's is proposing a transit-scale holiday program for the Downtown Riverside Metrolink Station — a designed, fabricated, installed, and serviced lighting and décor experience that anchors RCTC's flagship station as a downtown destination during the holiday season.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300">
                <a:solidFill>
                  <a:srgbClr val="444444"/>
                </a:solidFill>
                <a:latin typeface="Poppins"/>
              </a:rPr>
              <a:t>Our approach builds a signature visual identity for the station — driving ridership during peak season, creating shareable photo moments for the City of Riverside, and establishing a multi-year tradition that extends across the entire transit footprint.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828800"/>
            <a:ext cx="3063240" cy="41148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965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2860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2026 Holiday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7614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ZONES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944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3 Zones · See pp. 5-7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23697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RECOMMENDED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4198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Enhanced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71246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INVESTMENT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8953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$89K — $200K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879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GO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370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Fri, Nov 27,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6634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B31315"/>
                </a:solidFill>
                <a:latin typeface="Roboto"/>
              </a:rPr>
              <a:t>FABRICATION 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846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Aug 28,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51389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B31315"/>
                </a:solidFill>
                <a:latin typeface="Roboto"/>
              </a:rPr>
              <a:t>SIGNING DEADLINE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321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Jul 31,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606040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1C1C"/>
                </a:solidFill>
                <a:latin typeface="Roboto"/>
              </a:rPr>
              <a:t>Turnkey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Poppins"/>
              </a:rPr>
              <a:t>Concept through teardown — one partner, zero seams.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4937760"/>
            <a:ext cx="2606040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51206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1C1C"/>
                </a:solidFill>
                <a:latin typeface="Roboto"/>
              </a:rPr>
              <a:t>Destination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48640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Poppins"/>
              </a:rPr>
              <a:t>Built for civic-scale destinations and transit hubs.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4937760"/>
            <a:ext cx="2606040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1206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1C1C"/>
                </a:solidFill>
                <a:latin typeface="Roboto"/>
              </a:rPr>
              <a:t>25 Years at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48640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Poppins"/>
              </a:rPr>
              <a:t>From Pier 39 to Disney Parks — and now Riverside.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2 / 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Playback of discovery — so we're all working from the same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MARKETING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VENUE &amp;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The Joseph Tavaglione Riverside Downtown Metrolink Station is RCTC's flagship Inland Empire transit hub — connecting Riverside, San Bernardino, and the LA basin. The station serves as the eastern gateway to downtown Riverside, anchoring civic identity and supporting peak holiday-season commuter and visitor traffic.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33172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GOALS FOR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4320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Establish the station as Riverside's premier holiday transit destination. Drive ridership through the holiday window, create shareable photo moments, and position the station as a year-after-year civic landmark for the City of Riverside.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3484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KEY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Active station — install must avoid disrupting commuter and bus operations. Power coordination with RCTC facilities required. Canopy lighting installed as 'invisible' work prior to Nov 1 and energized at go-live. Compliance with prevailing-wage / certified-payroll obligations as applicable.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43484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443484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66344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WHAT SUCCESS LOOKS LIKE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7492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A signature transit-holiday identity that photographs and shares well; measurable lift in station traffic and downtown engagement; a program built for multi-year refresh and integration with the City of Riverside's broader downtown holiday narrative.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3 /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Roboto"/>
              </a:rPr>
              <a:t>Creative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BBBBBB"/>
                </a:solidFill>
                <a:latin typeface="Poppins"/>
              </a:rPr>
              <a:t>The design direction for Riverside's 2026 holiday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103120"/>
            <a:ext cx="5788152" cy="41148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977640"/>
            <a:ext cx="5788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DESIGN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i="0" sz="4000">
                <a:solidFill>
                  <a:srgbClr val="FFFFFF"/>
                </a:solidFill>
                <a:latin typeface="Roboto"/>
              </a:rPr>
              <a:t>Holiday Express.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DDDDDD"/>
                </a:solidFill>
                <a:latin typeface="Poppins"/>
              </a:rPr>
              <a:t>A warm, classic holiday aesthetic anchored to the station's iconic 'Holiday Express' train artwork — warm-white string lights, pine garland with red/green/gold ornaments, and oversized centerpiece moments that turn an active transit station into a photo-worthy destination from arrival through the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645920" cy="118872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64592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ARRIVE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Warm-white welcome at the station entrance.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5029200"/>
            <a:ext cx="1645920" cy="118872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5029200"/>
            <a:ext cx="164592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5257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623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Garland and lighting layered across platforms and perimeter.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5029200"/>
            <a:ext cx="1645920" cy="118872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5029200"/>
            <a:ext cx="164592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5257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CELEBRATE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623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Signature centerpiece + photo-op features.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Poppins"/>
              </a:rPr>
              <a:t>4 /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Poppins"/>
              </a:rPr>
              <a:t>ST. NICK'S  ·  2026 HOLIDAY PROPOSAL  ·  RIVERSIDE-DOWNTOWN METROLINK</a:t>
            </a:r>
          </a:p>
        </p:txBody>
      </p:sp>
      <p:pic>
        <p:nvPicPr>
          <p:cNvPr id="28" name="Picture 27" descr="Large Tree - Traditional Orna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78815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ZONE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1C1C"/>
                </a:solidFill>
                <a:latin typeface="Roboto"/>
              </a:rPr>
              <a:t>Station Arrival &amp; Plaza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First impression. The heart of the station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286000"/>
            <a:ext cx="7406640" cy="3931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06908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INCLUDED 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35 holiday pole banners ('Board The Holiday Express' artwork) site-wide
•  18' traditional Christmas tree centerpiece (red/green/gold ornaments)
•  Walk-through warm-white lighted ornament — bus loading island
•  144 LF of decorated garland on building eave
•  Four 5' lighted wreaths between station entrance brick columns
•  10' lighted wreath on stair tower column</a:t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5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  <p:pic>
        <p:nvPicPr>
          <p:cNvPr id="14" name="Picture 13" descr="Wreaths - Station Entrance 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286000"/>
            <a:ext cx="74066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6552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ZONE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6552" y="11430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1C1C"/>
                </a:solidFill>
                <a:latin typeface="Roboto"/>
              </a:rPr>
              <a:t>Platforms &amp;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2" y="1691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The framing — lighting and garland that wraps the entire site.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749039" cy="3931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2860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INCLUDED 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60604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1,258 LF of warm-white canopy string lighting (16 platform canopies + 2 bus stop canopies)
•  621 LF of decorated swag garland — front gate / perimeter fence
•  261 LF of decorated swag garland — center driveway gates
•  207 LF of decorated swag garland — staircase tower &amp; railing
•  12 lighted snowflakes on platform railings (animated twinkle)
•  Canopy lighting installed pre-Nov 1 as 'invisible work' to minimize transit disruption</a:t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6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  <p:pic>
        <p:nvPicPr>
          <p:cNvPr id="14" name="Picture 13" descr="Garlands - Decorated Swag - Plaza F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374903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ZONE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Roboto"/>
              </a:rPr>
              <a:t>Custom Photo Moments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DDDDDD"/>
                </a:solidFill>
                <a:latin typeface="Poppins"/>
              </a:rPr>
              <a:t>The wow features — custom-fabricated photo anchors that put RCTC on the map this season.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Custom 'City of Riverside' lighted bell display (warm-white LED + rope light, PVC mesh)
•  12' walk-through lighted gift box archway with red bow accent
•  Illuminated 'Happy Holidays' skyline sign at station entrance</a:t>
            </a:r>
            <a:r>
              <a:rPr sz="1000" b="0">
                <a:solidFill>
                  <a:srgbClr val="FFFFFF"/>
                </a:solidFill>
                <a:latin typeface="Poppin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FFFFFF"/>
                </a:solidFill>
                <a:latin typeface="Poppin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FFFFFF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8064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Lighted gift box tower (Signature tier — added at new location)
•  Spiral LED tree centerpiece option (Signature tier — replaces traditional tree)</a:t>
            </a:r>
            <a:r>
              <a:rPr sz="1000" b="0">
                <a:solidFill>
                  <a:srgbClr val="FFFFFF"/>
                </a:solidFill>
                <a:latin typeface="Poppin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FFFFFF"/>
                </a:solidFill>
                <a:latin typeface="Poppin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FFFFFF"/>
                </a:solidFill>
                <a:latin typeface="Poppin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Poppins"/>
              </a:rPr>
              <a:t>7 / 13</a:t>
            </a:r>
          </a:p>
        </p:txBody>
      </p:sp>
      <p:pic>
        <p:nvPicPr>
          <p:cNvPr id="14" name="Picture 13" descr="Walk-Through Display - Lighted Gift 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Scope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What your investment includes, and what you can add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623560" cy="42062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56235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5166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YOUR PROGRAM INCLUDES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Creative design + client-approved renderings
•  All materials, décor, and lighting elements
•  Full installation labor (phased, transit-aware schedule)
•  Power, electrical tap-ins, GFCI protection, timers
•  Testing, commissioning, and launch night support
•  Mid-season maintenance visits (Nov 27 – Jan 6)
•  Season on-call response
•  Complete post-season teardown and removal
•  Off-season storage of all rental elements at our facility</a:t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/>
            </a:r>
            <a:r>
              <a:rPr sz="1100" b="0">
                <a:solidFill>
                  <a:srgbClr val="444444"/>
                </a:solidFill>
                <a:latin typeface="Poppins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5623560" cy="42062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5623560" cy="5029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5166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OPTIONAL ADD-ONS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Lighted snowflakes on railings              +$3.5K
•  Walk-through gift box archway              +$11.5K
•  Happy Holidays skyline sign                  +$3.2K
•  Decorated garland upgrade (Front Gate)  +$26.7K
•  Decorated garland upgrade (Building Eave) +$6.6K
•  Decorated garland upgrade (Center Driveway) +$11.2K
•  Staircase tower &amp; railing garland (decorated) +$14.9K
•  Custom 'City of Riverside' bell display   +$18.8K Y1
•  Lighted gift box tower (new location)   +$11.1K
•  Spiral LED tree (replaces traditional)  +$3.7K Δ
•  Multi-year partnership                  See Investment</a:t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/>
            </a:r>
            <a:r>
              <a:rPr sz="1050" b="0">
                <a:solidFill>
                  <a:srgbClr val="444444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8 /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C1C1C"/>
                </a:solidFill>
                <a:latin typeface="Roboto"/>
              </a:rPr>
              <a:t>Oregon Zoo · ZooLights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Transforming Portland's family destination into a signature winter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400800" cy="3931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>[Oregon Zoo — hero photo from ZooLights install]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56032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Deliver a full property-wide holiday transformation across 64 acres of active zoological habitats, with zero disruption to animal welfare and a firm Thanksgiving Day go-live.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576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3192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Phased 18-night install coordinated with animal care teams. Custom low-impact lighting specifications. A signature 45-ft illuminated evergreen at the main entrance visible from Highway 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0292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30352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31% YoY increase in ZooLights attendance. 4.2M+ social impressions. Partnership renewed through 2028. Feature coverage in The Oregonian and KGW.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9 /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Three levels of program. Pick what fits your season.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3749039" cy="30175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3749039" cy="10972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C1C1C"/>
                </a:solidFill>
                <a:latin typeface="Roboto"/>
              </a:rPr>
              <a:t>ESSENTIAL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555555"/>
                </a:solidFill>
                <a:latin typeface="Roboto"/>
              </a:rPr>
              <a:t>CORE HOLIDAY PRESENCE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3200399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3200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>•  Base scope only — undecorated
•  35 pole banners + brackets + install
•  1,258 LF canopy string lighting
•  Garland — Front Gate, Eave, Driveway
•  Wreaths at entrance + stair tower
•  Traditional tree + walk-through ornament</a:t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C1C1C"/>
                </a:solidFill>
                <a:latin typeface="Roboto"/>
              </a:rPr>
              <a:t>$88,906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ALL-IN · TAX 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737360"/>
            <a:ext cx="3749039" cy="32004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7373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Roboto"/>
              </a:rPr>
              <a:t>★  RECOMMENDED 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2057400"/>
            <a:ext cx="3749039" cy="3200400"/>
          </a:xfrm>
          <a:prstGeom prst="rect">
            <a:avLst/>
          </a:prstGeom>
          <a:solidFill>
            <a:srgbClr val="FF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2057400"/>
            <a:ext cx="3749039" cy="109728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233172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C1C1C"/>
                </a:solidFill>
                <a:latin typeface="Roboto"/>
              </a:rPr>
              <a:t>ENHANCED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8346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B31315"/>
                </a:solidFill>
                <a:latin typeface="Roboto"/>
              </a:rPr>
              <a:t>FULL HOLIDAY PROGRAM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9" y="3154680"/>
            <a:ext cx="3200399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291840"/>
            <a:ext cx="32003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Everything in Essential, plus:
•  Decorated garland (red/green/gold)
•  Lighted snowflakes on railings
•  Walk-through gift box (photo op)
•  Happy Holidays skyline sign
•  Decorated staircase garland</a:t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448056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C1C1C"/>
                </a:solidFill>
                <a:latin typeface="Roboto"/>
              </a:rPr>
              <a:t>$166,643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8920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ALL-IN · TAX EXCLUDED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58" y="2240280"/>
            <a:ext cx="3749039" cy="30175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8" y="2240280"/>
            <a:ext cx="3749039" cy="1097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8" y="2514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C1C1C"/>
                </a:solidFill>
                <a:latin typeface="Roboto"/>
              </a:rPr>
              <a:t>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8" y="301752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2355B"/>
                </a:solidFill>
                <a:latin typeface="Roboto"/>
              </a:rPr>
              <a:t>DESTINATION-SCALE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78" y="3337560"/>
            <a:ext cx="3200399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8" y="3474720"/>
            <a:ext cx="3200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>•  Everything in Enhanced, plus:
•  Custom 'City of Riverside' bell display
•  Spiral LED tree (replaces traditional)
•  Lighted gift box tower (new location)
•  Premium photo-op + signature features</a:t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/>
            </a:r>
            <a:r>
              <a:rPr sz="1000" b="0">
                <a:solidFill>
                  <a:srgbClr val="444444"/>
                </a:solidFill>
                <a:latin typeface="Poppin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8" y="448056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C1C1C"/>
                </a:solidFill>
                <a:latin typeface="Roboto"/>
              </a:rPr>
              <a:t>$200,249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8" y="48920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ALL-IN · TAX EXCLUDED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138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MULTI-YEAR PARTNERSHIP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881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Poppins"/>
              </a:rPr>
              <a:t>Lock in rates and save: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5138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2-YEAR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7698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Roboto"/>
              </a:rPr>
              <a:t>4% 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5138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3-YEAR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7698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Roboto"/>
              </a:rPr>
              <a:t>6% 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5138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5-YEAR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7698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Roboto"/>
              </a:rPr>
              <a:t>9% 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636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WHAT'S INCLUDED BY TIER:  Base scope (banners, canopy lighting, garland, wreaths, tree, walk-through ornament) is in all tiers · Decorated garland upgrade + 4 enhancements added in Enhanced · Bell Display + Spiral LED Tree (replaces traditional) + Gift Box Tower added in Signature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9672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8A8A8A"/>
                </a:solidFill>
                <a:latin typeface="Poppins"/>
              </a:rPr>
              <a:t>Pricing valid 30 days from proposal date. Fabrication must be locked by Aug 28, 2026.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Terms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The critical dates and terms for the 2026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10515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⚑  CRITICAL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B31315"/>
                </a:solidFill>
                <a:latin typeface="Roboto"/>
              </a:rPr>
              <a:t>SIGNING DEADLINE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Roboto"/>
              </a:rPr>
              <a:t>July 31,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7860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E5E5"/>
                </a:solidFill>
                <a:latin typeface="Poppins"/>
              </a:rPr>
              <a:t>Execute by this date to guarantee the install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146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B31315"/>
                </a:solidFill>
                <a:latin typeface="Roboto"/>
              </a:rPr>
              <a:t>FABRICATION 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743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Roboto"/>
              </a:rPr>
              <a:t>August 28,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57860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E5E5"/>
                </a:solidFill>
                <a:latin typeface="Poppins"/>
              </a:rPr>
              <a:t>All custom fabrication must be approved by this date (90 days pre-Go Live).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PAYMENT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50% deposit upon contract execution — required to lock the install schedule. 50% balance due upon completion of post-season teardown (Jan 15, 2027). Net-15 terms on final invoice.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383280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383280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INSURANCE &amp; PERMITS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88620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$5M Umbrella over $1M/$2M Commercial General Liability and $1M Auto; full Workers' Comp at statutory limits. Certificates of insurance available upon request. Permits coordinated with RCTC; St. Nick's provides full documentation support. Prevailing wage / certified payroll compliance as applicable.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73168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73168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5604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CHANGE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7608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Includes 2 creative revision rounds before Fabrication Lock (Aug 28, 2026). Changes after that date require a written change order: 30% of the value of any item removed from scope, plus full value of any item added.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4773168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4773168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495604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PROPOSAL VALIDITY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27608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This proposal is valid 30 days from April 30, 2026. Materials pricing subject to market conditions thereafter. Sign by Jul 31 to lock schedule.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AFTER APPROVAL →  Kickoff call within 48 hrs  ·  Site walk + power survey  ·  Renderings final by Aug 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11 /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Let's Make It Happen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Sign below to launch Riverside-Downtown Metrolink Station's 2026 holiday program.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74552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WHAT YOU'RE APPROVING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44444"/>
                </a:solidFill>
                <a:latin typeface="Poppins"/>
              </a:rPr>
              <a:t>The 2026 holiday program for the Downtown Riverside Metrolink Station — three zones (Station Arrival &amp; Plaza, Platforms &amp; Perimeter, Custom Photo Moments), live Nov 27, 2026 through Jan 6, 2027. Enhanced Tier at $166,643, all-in, tax excluded. 50% deposit due on contract execution to lock the schedule.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394960" cy="36576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Roboto"/>
              </a:rPr>
              <a:t>CLIENT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SIGNATURE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636007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18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PRINTED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020055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20293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TITLE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404103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8698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788151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394960" cy="36576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49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Roboto"/>
              </a:rPr>
              <a:t>ST. NICK'S AUTHORIZED SIGNATURE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SIGNATURE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636007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18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PRINTED 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5020055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20293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TITLE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5404103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58698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788151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8A8A8A"/>
                </a:solidFill>
                <a:latin typeface="Poppins"/>
              </a:rPr>
              <a:t>Questions? Reply to Jonathan Yang at jonathan@st-nicks.com — we'll respond within 24 hours.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RIVERSIDE-DOWNTOWN METROLINK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Roboto"/>
              </a:rPr>
              <a:t>About St. Nick's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BBBBBB"/>
                </a:solidFill>
                <a:latin typeface="Poppins"/>
              </a:rPr>
              <a:t>25 years of large-scale holiday design, installation, and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Founded 1998 (dba St. Nick's) — T&amp;G Global, LLC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14 full-time team · 30–45 seasonal staff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B-General Building Contractor #990427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Certified Small Business Supplier #1626660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$5M Umbrella · $1M/$2M GL · $1M Auto · Full Workers' Comp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200+ commercial venues across North America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YOUR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Nicholas Adams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249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Wade Francis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278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Chief Financial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Brenda Sheridan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307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Director of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Daniel Christenson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Director of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Stephanie Escobar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365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Creative Director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83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Carlos Vasquez &amp; Alonso Salazar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395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Senior Installers / Project Managers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126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Roboto"/>
              </a:rPr>
              <a:t>ST-NICKS.COM  ·  (562) 438-0017  ·  6861 Walker St, La Palma, CA 90623  ·  © 2026 St. Nick's Christmas Lighting &amp; Décor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