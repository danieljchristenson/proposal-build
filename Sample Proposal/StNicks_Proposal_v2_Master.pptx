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825977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0" y="3246120"/>
            <a:ext cx="825977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AAAAAA"/>
                </a:solidFill>
                <a:latin typeface="Poppins"/>
              </a:rPr>
              <a:t>[HERO IMAGE — Pier 39 at dusk, holiday lighting]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ST. NICK'S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FFFFFF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365760" cy="73152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2026 HOLIDAY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Roboto"/>
              </a:rPr>
              <a:t>Pier 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CCCCCC"/>
                </a:solidFill>
                <a:latin typeface="Roboto"/>
              </a:rPr>
              <a:t>San Francisco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8A8A8A"/>
                </a:solidFill>
                <a:latin typeface="Roboto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St. Nick's Christmas Lighting &amp; Décor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704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BBBBBB"/>
                </a:solidFill>
                <a:latin typeface="Poppins"/>
              </a:rPr>
              <a:t>Proposal Date: October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Our 2026 holiday program for Pier 39, at a glance.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OWNER / GM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804672"/>
            <a:ext cx="1188720" cy="256032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804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MARKETING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106424"/>
            <a:ext cx="1188720" cy="256032"/>
          </a:xfrm>
          <a:prstGeom prst="round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1064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300">
                <a:solidFill>
                  <a:srgbClr val="444444"/>
                </a:solidFill>
                <a:latin typeface="Poppins"/>
              </a:rPr>
              <a:t>St. Nick's is proposing a destination-scale holiday program for Pier 39 — a designed, fabricated, installed, and serviced lighting and décor experience across three of the property's highest-traffic guest zones.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300">
                <a:solidFill>
                  <a:srgbClr val="444444"/>
                </a:solidFill>
                <a:latin typeface="Poppins"/>
              </a:rPr>
              <a:t>Our approach builds a signature visual identity for Pier 39's 2026 holiday season, driving guest dwell time, social shareability, and differentiation from neighboring attractions along the Embarcadero.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828800"/>
            <a:ext cx="3063240" cy="41148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965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AT A GLANCE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2860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2026 Holiday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76148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ZONES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944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Embarcadero · Promenade · Bay Terrace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23697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RECOMMENDED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4198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Enhanced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71246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INVESTMENT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8953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$225K — $485K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879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GO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370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Fri, Nov 20,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66344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B31315"/>
                </a:solidFill>
                <a:latin typeface="Roboto"/>
              </a:rPr>
              <a:t>FABRICATION 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846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Aug 22,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513892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B31315"/>
                </a:solidFill>
                <a:latin typeface="Roboto"/>
              </a:rPr>
              <a:t>SIGNING DEADLINE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3218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1C1C"/>
                </a:solidFill>
                <a:latin typeface="Poppins"/>
              </a:rPr>
              <a:t>Nov 14,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606040" cy="11887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1C1C"/>
                </a:solidFill>
                <a:latin typeface="Roboto"/>
              </a:rPr>
              <a:t>Turnkey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Poppins"/>
              </a:rPr>
              <a:t>Concept through teardown — one partner, zero seams.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4937760"/>
            <a:ext cx="2606040" cy="11887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51206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1C1C"/>
                </a:solidFill>
                <a:latin typeface="Roboto"/>
              </a:rPr>
              <a:t>Destination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48640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Poppins"/>
              </a:rPr>
              <a:t>Built for venues hosting millions of guests per season.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4937760"/>
            <a:ext cx="2606040" cy="11887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1206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1C1C"/>
                </a:solidFill>
                <a:latin typeface="Roboto"/>
              </a:rPr>
              <a:t>25 Years at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48640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Poppins"/>
              </a:rPr>
              <a:t>From Pier 39 to Disney Parks, we've done this before.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2 / 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Playback of discovery — so we're all working from the same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OWNER / GM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804672"/>
            <a:ext cx="1188720" cy="256032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804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MARKETING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623560" cy="2103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91440" cy="21031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VENUE &amp;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Pier 39 is San Francisco's iconic waterfront destination — 45 acres of retail, dining, and entertainment hosting 10M+ annual guests. Holiday season drives peak family traffic from Thanksgiving through New Year's.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5623560" cy="2103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91440" cy="21031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33172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GOALS FOR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4320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Amplify the arrival experience, extend guest dwell time through the holiday window, and create shareable photo moments that reinforce Pier 39's position as Northern California's premier holiday destination.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5623560" cy="2103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34840"/>
            <a:ext cx="91440" cy="21031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KEY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Phased install during overnight windows to avoid retail disruption. Zero impact to the sea lion habitat at K-Dock. All-weather durability required. Full removal and storage complete by January 15, 2027.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434840"/>
            <a:ext cx="5623560" cy="2103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4434840"/>
            <a:ext cx="91440" cy="21031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66344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WHAT SUCCESS LOOKS LIKE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07492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A signature holiday identity photographed and shared 10x the volume of 2025. Measurable dwell-time lift. A program built for multi-year refresh and extension into Pier 39's broader marketing narrative.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3 /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FFFFFF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Roboto"/>
              </a:rPr>
              <a:t>Creative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BBBBBB"/>
                </a:solidFill>
                <a:latin typeface="Poppins"/>
              </a:rPr>
              <a:t>The design direction for Pier 39's 2026 holiday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103120"/>
            <a:ext cx="5788152" cy="41148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977640"/>
            <a:ext cx="5788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>[HERO — overall vision rendering or hero photo]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DESIGN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Roboto"/>
              </a:rPr>
              <a:t>Bayside Twilight.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DDDDDD"/>
                </a:solidFill>
                <a:latin typeface="Poppins"/>
              </a:rPr>
              <a:t>A cinematic holiday aesthetic that honors Pier 39's waterfront character — warm whites and brushed gold set against the Bay at twilight, oversized architectural lighting, and seasonal storytelling that unfolds as guests move through the property.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645920" cy="118872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645920" cy="73152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ARRIVE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Warm, cinematic welcome.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5029200"/>
            <a:ext cx="1645920" cy="118872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5029200"/>
            <a:ext cx="1645920" cy="73152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5257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623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Discoverable moments along the Promenade.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5029200"/>
            <a:ext cx="1645920" cy="118872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3360" y="5029200"/>
            <a:ext cx="1645920" cy="73152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5257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CELEBRATE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623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A landmark scene at the Bay Terrace.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Poppins"/>
              </a:rPr>
              <a:t>4 / 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ZONE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1C1C"/>
                </a:solidFill>
                <a:latin typeface="Roboto"/>
              </a:rPr>
              <a:t>Embarcadero Arrival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First impression. The threshold between the city and Pier 39.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286000"/>
            <a:ext cx="7406640" cy="3931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06908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>[ZONE 01 — hero rendering or past-work photo]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INCLUDED 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28' illuminated entry arch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Pair of 14' flanking classic trees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Custom 'Welcome to Pier 39' marquee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Warm-white garland across arch beams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Brushed-gold ribbon accents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Dusk-to-dawn programming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5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6552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ZONE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6552" y="11430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1C1C"/>
                </a:solidFill>
                <a:latin typeface="Roboto"/>
              </a:rPr>
              <a:t>Pier Promenade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2" y="1691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A layered, discoverable journey through the heart of the Pier.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749039" cy="3931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>[ZONE 02 — Promenade at dusk]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2860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INCLUDED 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60604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220 linear feet of illuminated tree wrap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Four 8' oversized ornament installations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Suspended starlight canopy over Central Plaza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Two custom photo moments (K-Dock + fountain)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Themed garland across retail storefronts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Hot cocoa concierge station (Fri–Sun)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Curated wreath package on Pier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6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>[FULL-BLEED — Bay Terrace signature installation]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ST. NICK'S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FFFFFF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ZONE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Roboto"/>
              </a:rPr>
              <a:t>Bay Terrace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DDDDDD"/>
                </a:solidFill>
                <a:latin typeface="Poppins"/>
              </a:rPr>
              <a:t>The signature moment. The destination within the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FFFFFF"/>
                </a:solidFill>
                <a:latin typeface="Poppins"/>
              </a:rPr>
              <a:t>40' walkthrough signature tree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FFFFFF"/>
                </a:solidFill>
                <a:latin typeface="Poppins"/>
              </a:rPr>
              <a:t>Illuminated Bay view photo frame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FFFFFF"/>
                </a:solidFill>
                <a:latin typeface="Poppins"/>
              </a:rPr>
              <a:t>Suspended snowflake constellation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8064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FFFFFF"/>
                </a:solidFill>
                <a:latin typeface="Poppins"/>
              </a:rPr>
              <a:t>Custom "Happy Holidays, Pier 39" marquee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FFFFFF"/>
                </a:solidFill>
                <a:latin typeface="Poppins"/>
              </a:rPr>
              <a:t>Gold-accented architectural pier lighting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FFFFFF"/>
                </a:solidFill>
                <a:latin typeface="Poppins"/>
              </a:rPr>
              <a:t>Nightly synchronized music + light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Poppins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Scope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What your investment includes, and what you can add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804672"/>
            <a:ext cx="1188720" cy="256032"/>
          </a:xfrm>
          <a:prstGeom prst="round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804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OWNER / 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623560" cy="42062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562356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5166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YOUR PROGRAM INCLUDES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Creative design + client-approved renderings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All materials, décor, and lighting elements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Installation labor (3-week phased window)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Testing, commissioning, and launch night support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Daily programming (dusk-to-dawn schedule)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Weekly on-site maintenance visits (Nov 20 – Jan 5)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24/7 season on-call response (4-hour SLA)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Complete post-season teardown and removal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2E7D32"/>
                </a:solidFill>
                <a:latin typeface="Poppins"/>
              </a:rPr>
              <a:t>•  </a:t>
            </a:r>
            <a:r>
              <a:rPr sz="1100" b="0">
                <a:solidFill>
                  <a:srgbClr val="444444"/>
                </a:solidFill>
                <a:latin typeface="Poppins"/>
              </a:rPr>
              <a:t>Storage of reusable elements at our facility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5623560" cy="42062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5623560" cy="5029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5166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Roboto"/>
              </a:rPr>
              <a:t>OPTIONAL ADD-ONS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Extended programming (Halloween kickoff)       +$12K</a:t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Maintenance upgrade (2x weekly visits)         +$9K</a:t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Custom photo-op signage package                +$14K</a:t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Scheduled mid-season creative refresh          +$18K</a:t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Synchronized music + full light show           +$24K</a:t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On-site producer (peak Fri/Sat nights)         +$16K</a:t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Priority 2-hour SLA upgrade                    +$8K</a:t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Extended installation (add-week)               +$22K</a:t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B31315"/>
                </a:solidFill>
                <a:latin typeface="Poppins"/>
              </a:rPr>
              <a:t>•  </a:t>
            </a:r>
            <a:r>
              <a:rPr sz="1050" b="0">
                <a:solidFill>
                  <a:srgbClr val="444444"/>
                </a:solidFill>
                <a:latin typeface="Poppins"/>
              </a:rPr>
              <a:t>Multi-year partnership (see Investment page)   Varies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8 /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C1C1C"/>
                </a:solidFill>
                <a:latin typeface="Roboto"/>
              </a:rPr>
              <a:t>Oregon Zoo · ZooLights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Transforming Portland's family destination into a signature winter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400800" cy="3931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AAAAAA"/>
                </a:solidFill>
                <a:latin typeface="Poppins"/>
              </a:rPr>
              <a:t>[Oregon Zoo — hero photo from ZooLights install]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560320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Deliver a full property-wide holiday transformation across 64 acres of active zoological habitats, with zero disruption to animal welfare and a firm Thanksgiving Day go-live.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576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31920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Phased 18-night install coordinated with animal care teams. Custom low-impact lighting specifications. A signature 45-ft illuminated evergreen at the main entrance visible from Highway 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0292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THE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303520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444444"/>
                </a:solidFill>
                <a:latin typeface="Poppins"/>
              </a:rPr>
              <a:t>31% YoY increase in ZooLights attendance. 4.2M+ social impressions. Partnership renewed through 2028. Feature coverage in The Oregonian and KGW.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9 /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Three levels of program. Pick what fits your season.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804672"/>
            <a:ext cx="1188720" cy="256032"/>
          </a:xfrm>
          <a:prstGeom prst="round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8046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OWNER / 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3749039" cy="30175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3749039" cy="10972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C1C1C"/>
                </a:solidFill>
                <a:latin typeface="Roboto"/>
              </a:rPr>
              <a:t>ESSENTIAL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555555"/>
                </a:solidFill>
                <a:latin typeface="Roboto"/>
              </a:rPr>
              <a:t>CORE HOLIDAY PRESENCE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3200399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3200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55555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Zone 01 (Embarcadero) only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55555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Core lighting + décor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55555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Weekly maintenance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55555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Dusk-to-dawn 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C1C1C"/>
                </a:solidFill>
                <a:latin typeface="Roboto"/>
              </a:rPr>
              <a:t>$225,000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ALL-IN · TAX EXCLUDED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737360"/>
            <a:ext cx="3749039" cy="32004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7373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Roboto"/>
              </a:rPr>
              <a:t>★  RECOMMENDED 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2057400"/>
            <a:ext cx="3749039" cy="3200400"/>
          </a:xfrm>
          <a:prstGeom prst="rect">
            <a:avLst/>
          </a:prstGeom>
          <a:solidFill>
            <a:srgbClr val="FF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2057400"/>
            <a:ext cx="3749039" cy="109728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233172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C1C1C"/>
                </a:solidFill>
                <a:latin typeface="Roboto"/>
              </a:rPr>
              <a:t>ENHANCED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83464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B31315"/>
                </a:solidFill>
                <a:latin typeface="Roboto"/>
              </a:rPr>
              <a:t>FULL GUEST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1999" y="3154680"/>
            <a:ext cx="3200399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291840"/>
            <a:ext cx="32003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Everything in Essential, plus: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Zones 02 + 03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Custom photo moments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Suspended starlight canopy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B31315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24/7 on-call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448056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C1C1C"/>
                </a:solidFill>
                <a:latin typeface="Roboto"/>
              </a:rPr>
              <a:t>$345,000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89204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ALL-IN · TAX EXCLUDED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58" y="2240280"/>
            <a:ext cx="3749039" cy="30175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8" y="2240280"/>
            <a:ext cx="3749039" cy="10972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8" y="2514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C1C1C"/>
                </a:solidFill>
                <a:latin typeface="Roboto"/>
              </a:rPr>
              <a:t>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8" y="301752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2355B"/>
                </a:solidFill>
                <a:latin typeface="Roboto"/>
              </a:rPr>
              <a:t>DESTINATION EXPERIENCE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78" y="3337560"/>
            <a:ext cx="3200399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8" y="3474720"/>
            <a:ext cx="3200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Everything in Enhanced, plus: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40' signature tree + marquee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Synchronized music + light show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Mid-season creative refresh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2355B"/>
                </a:solidFill>
                <a:latin typeface="Poppins"/>
              </a:rPr>
              <a:t>•  </a:t>
            </a:r>
            <a:r>
              <a:rPr sz="1000" b="0">
                <a:solidFill>
                  <a:srgbClr val="444444"/>
                </a:solidFill>
                <a:latin typeface="Poppins"/>
              </a:rPr>
              <a:t>On-site producer, priority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8" y="448056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C1C1C"/>
                </a:solidFill>
                <a:latin typeface="Roboto"/>
              </a:rPr>
              <a:t>$485,000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8" y="489204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ALL-IN · TAX EXCLUDED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138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MULTI-YEAR PARTNERSHIP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881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Poppins"/>
              </a:rPr>
              <a:t>Lock in rates and save: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51383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2-YEAR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76986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Roboto"/>
              </a:rPr>
              <a:t>4% 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51383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3-YEAR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76986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Roboto"/>
              </a:rPr>
              <a:t>6% 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51383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5-YEAR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76986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Roboto"/>
              </a:rPr>
              <a:t>9% 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636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WHAT'S INCLUDED BY TIER:  Zone 01 Embarcadero → Essential · Enhanced · Signature      |      Zone 02 Promenade → Enhanced · Signature      |      Zone 03 Bay Terrace → Signature only (included with Enhanced as 'Signature Upgrade' option)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19672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8A8A8A"/>
                </a:solidFill>
                <a:latin typeface="Poppins"/>
              </a:rPr>
              <a:t>Pricing valid 30 days from proposal date. Fabrication must be locked by Aug 22, 2026.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Terms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The critical dates and terms for the 2026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188720" cy="256032"/>
          </a:xfrm>
          <a:prstGeom prst="round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FFFFFF"/>
                </a:solidFill>
                <a:latin typeface="Roboto"/>
              </a:rPr>
              <a:t>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10515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31315"/>
                </a:solidFill>
                <a:latin typeface="Roboto"/>
              </a:rPr>
              <a:t>⚑  CRITICAL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B31315"/>
                </a:solidFill>
                <a:latin typeface="Roboto"/>
              </a:rPr>
              <a:t>SIGNING DEADLINE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Roboto"/>
              </a:rPr>
              <a:t>November 14,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7860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E5E5"/>
                </a:solidFill>
                <a:latin typeface="Poppins"/>
              </a:rPr>
              <a:t>Execute by this date to guarantee the install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146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B31315"/>
                </a:solidFill>
                <a:latin typeface="Roboto"/>
              </a:rPr>
              <a:t>FABRICATION 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743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Roboto"/>
              </a:rPr>
              <a:t>August 22,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57860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E5E5"/>
                </a:solidFill>
                <a:latin typeface="Poppins"/>
              </a:rPr>
              <a:t>All custom fabrication must be approved by this date (90 days pre-Go Live).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623560" cy="12801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91440" cy="12801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PAYMENT 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4444"/>
                </a:solidFill>
                <a:latin typeface="Poppins"/>
              </a:rPr>
              <a:t>50% deposit upon contract execution — required to lock the install schedule. 50% balance due upon completion of post-season teardown (Jan 15, 2027). Net-15 terms on final invoice.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383280"/>
            <a:ext cx="5623560" cy="12801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383280"/>
            <a:ext cx="91440" cy="12801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INSURANCE &amp; PERMITS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88620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4444"/>
                </a:solidFill>
                <a:latin typeface="Poppins"/>
              </a:rPr>
              <a:t>$5M Umbrella over $1M/$2M Commercial General Liability and $1M Auto; full Workers' Comp at statutory limits. Certificates available upon request. Municipal permits handled by Pier 39; we provide full documentation support.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73168"/>
            <a:ext cx="5623560" cy="12801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73168"/>
            <a:ext cx="91440" cy="12801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5604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CHANGE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7608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4444"/>
                </a:solidFill>
                <a:latin typeface="Poppins"/>
              </a:rPr>
              <a:t>Includes 2 creative revision rounds before Fabrication Lock (Aug 22, 2026). Changes after that date require a written change order: 30% of the value of any item removed from scope, plus full value of any item added.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4773168"/>
            <a:ext cx="5623560" cy="128016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4773168"/>
            <a:ext cx="91440" cy="128016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495604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PROPOSAL VALIDITY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27608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44444"/>
                </a:solidFill>
                <a:latin typeface="Poppins"/>
              </a:rPr>
              <a:t>This proposal is valid 30 days from October 15, 2026. Materials pricing subject to market conditions thereafter. Sign by Nov 14 to lock schedule.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AFTER APPROVAL →  Kickoff call within 48 hrs  ·  Creative window opens  ·  Renderings final by Aug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11 /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C1C1C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1C1C1C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1C1C1C"/>
                </a:solidFill>
                <a:latin typeface="Roboto"/>
              </a:rPr>
              <a:t>Let's Make It Happen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A8A"/>
                </a:solidFill>
                <a:latin typeface="Poppins"/>
              </a:rPr>
              <a:t>Sign below to launch Pier 39's 2026 holiday program.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74552" cy="11887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WHAT YOU'RE APPROVING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44444"/>
                </a:solidFill>
                <a:latin typeface="Poppins"/>
              </a:rPr>
              <a:t>The 2026 Pier 39 holiday program — three zones (Embarcadero Arrival, Pier Promenade, Bay Terrace), live Nov 20, 2026 through Jan 5, 2027. Enhanced Tier at $345,000, all-in, tax excluded. 50% deposit due on contract execution to lock the schedule.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394960" cy="36576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Roboto"/>
              </a:rPr>
              <a:t>CLIENT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SIGNATURE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636007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18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PRINTED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020055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20293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TITLE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404103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8698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788151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5394960" cy="36576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49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Roboto"/>
              </a:rPr>
              <a:t>ST. NICK'S AUTHORIZED SIGNATURE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348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SIGNATURE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636007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18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PRINTED 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5020055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20293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TITLE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5404103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58698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 i="0">
                <a:solidFill>
                  <a:srgbClr val="8A8A8A"/>
                </a:solidFill>
                <a:latin typeface="Roboto"/>
              </a:rPr>
              <a:t>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5788151"/>
            <a:ext cx="3794760" cy="18288"/>
          </a:xfrm>
          <a:prstGeom prst="rect">
            <a:avLst/>
          </a:prstGeom>
          <a:solidFill>
            <a:srgbClr val="D5D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8A8A8A"/>
                </a:solidFill>
                <a:latin typeface="Poppins"/>
              </a:rPr>
              <a:t>Prefer to sign digitally? Use the Canva e-signature link in your email. Questions? Reply directly — we'll respond within 24 hours.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8A8A"/>
                </a:solidFill>
                <a:latin typeface="Poppins"/>
              </a:rPr>
              <a:t>ST. NICK'S  ·  2026 HOLIDAY PROPOSAL  ·  PIER 39 SAN FRANCISCO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ST. NICK'S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 i="0">
                <a:solidFill>
                  <a:srgbClr val="FFFFFF"/>
                </a:solidFill>
                <a:latin typeface="Poppins"/>
              </a:rPr>
              <a:t>CHRISTMAS LIGHTING &amp; DÉCOR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Roboto"/>
              </a:rPr>
              <a:t>About St. Nick's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BBBBBB"/>
                </a:solidFill>
                <a:latin typeface="Poppins"/>
              </a:rPr>
              <a:t>25 years of large-scale holiday design, installation, and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Founded 1998 (dba St. Nick's) — T&amp;G Global, LLC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14 full-time team · 30–45 seasonal staff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B-General Building Contractor #990427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Certified Small Business Supplier #1626660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$5M Umbrella · $1M/$2M GL · $1M Auto · Full Workers' Comp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B31315"/>
                </a:solidFill>
                <a:latin typeface="Poppins"/>
              </a:rPr>
              <a:t>•  </a:t>
            </a:r>
            <a:r>
              <a:rPr sz="1100" b="0">
                <a:solidFill>
                  <a:srgbClr val="FFFFFF"/>
                </a:solidFill>
                <a:latin typeface="Poppins"/>
              </a:rPr>
              <a:t>200+ commercial venues across North America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B31315"/>
                </a:solidFill>
                <a:latin typeface="Roboto"/>
              </a:rPr>
              <a:t>YOUR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Nicholas Adams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249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Wade Francis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278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Chief Financial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Brenda Sheridan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307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Director of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Daniel Christenson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Director of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Stephanie Escobar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365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Creative Director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834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Carlos Vasquez &amp; Alonso Salazar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395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CCCCC"/>
                </a:solidFill>
                <a:latin typeface="Poppins"/>
              </a:rPr>
              <a:t>Senior Installers / Project Managers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B3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126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Roboto"/>
              </a:rPr>
              <a:t>ST-NICKS.COM  ·  (562) 438-0017  ·  6861 Walker St, La Palma, CA 90623  ·  © 2026 St. Nick's Christmas Lighting &amp; Décor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